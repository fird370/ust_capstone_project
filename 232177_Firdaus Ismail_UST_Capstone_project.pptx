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4" r:id="rId11"/>
    <p:sldId id="265" r:id="rId12"/>
    <p:sldId id="266" r:id="rId13"/>
    <p:sldId id="267" r:id="rId14"/>
  </p:sldIdLst>
  <p:sldSz cx="12192000" cy="6858000" type="screen4x3"/>
  <p:notesSz cx="6858000" cy="9144000"/>
  <p:embeddedFontLs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70065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49834"/>
            <a:ext cx="2613025" cy="161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>
                <a:solidFill>
                  <a:srgbClr val="2563EB"/>
                </a:solidFill>
                <a:latin typeface="JetBrains Mono"/>
                <a:sym typeface="+mn-ea"/>
              </a:rPr>
              <a:t>PYTHON AI/ML CAPSTONE PROJECT</a:t>
            </a:r>
            <a:endParaRPr sz="1050" b="1" i="0" u="none">
              <a:solidFill>
                <a:srgbClr val="60A5FA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497484"/>
            <a:ext cx="8601075" cy="1149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5"/>
              </a:lnSpc>
            </a:pPr>
            <a:r>
              <a:rPr sz="3900" b="1">
                <a:solidFill>
                  <a:srgbClr val="F8FAFC"/>
                </a:solidFill>
                <a:latin typeface="Inter"/>
                <a:sym typeface="+mn-ea"/>
              </a:rPr>
              <a:t>Customer Churn Prediction &amp; Data Quality Pipeline</a:t>
            </a:r>
            <a:endParaRPr sz="39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09600" y="4172495"/>
            <a:ext cx="5935980" cy="2768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Presented by </a:t>
            </a:r>
            <a:r>
              <a:rPr lang="en-MY" sz="1800" b="0" i="0" u="none">
                <a:solidFill>
                  <a:srgbClr val="CBD5E1"/>
                </a:solidFill>
                <a:latin typeface="Inter"/>
              </a:rPr>
              <a:t>Muhamad Firdaus bin Ismail (UID: 232177)</a:t>
            </a:r>
            <a:endParaRPr lang="en-MY" sz="1800" b="0" i="0" u="none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7477"/>
            <a:ext cx="350520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17477"/>
            <a:ext cx="350520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7477"/>
            <a:ext cx="350520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25" y="3231802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323180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25" y="3231802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BUSINESS IMPACT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Addressing Customer Attrition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365090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High Acquisition Costs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925" y="3965227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Acquiring new subscribers costs 5x more than retaining existing users.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57725" y="365090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Proactive Intervention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57725" y="3965227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Identify churn drivers to target retention offers before cancellation.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91525" y="365090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Revenue Protection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91525" y="3965227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Reduce monthly subscriber churn to protect recurring revenue streams.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51858" y="3255615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7419" y="3255615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OVERVIEW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IBM Telco Dataset Metrics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3390" y="3279427"/>
            <a:ext cx="2714625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2563EB"/>
                </a:solidFill>
                <a:latin typeface="Plus Jakarta Sans"/>
              </a:rPr>
              <a:t>7,043</a:t>
            </a:r>
            <a:endParaRPr sz="60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3390" y="4155727"/>
            <a:ext cx="2714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Customer Records</a:t>
            </a:r>
            <a:endParaRPr sz="1350" b="1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89760" y="3279427"/>
            <a:ext cx="1869281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Plus Jakarta Sans"/>
              </a:rPr>
              <a:t>21</a:t>
            </a:r>
            <a:endParaRPr sz="60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89760" y="4155727"/>
            <a:ext cx="1869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Original Attributes</a:t>
            </a:r>
            <a:endParaRPr sz="1350" b="1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97924" y="3279427"/>
            <a:ext cx="3143250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DC2626"/>
                </a:solidFill>
                <a:latin typeface="Plus Jakarta Sans"/>
              </a:rPr>
              <a:t>26.5%</a:t>
            </a:r>
            <a:endParaRPr sz="6000" b="1" i="0" u="none">
              <a:solidFill>
                <a:srgbClr val="DC2626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97924" y="4155727"/>
            <a:ext cx="3143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75569"/>
                </a:solidFill>
                <a:latin typeface="Plus Jakarta Sans"/>
              </a:rPr>
              <a:t>Baseline Churn Rate</a:t>
            </a:r>
            <a:endParaRPr sz="1350" b="1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41327"/>
            <a:ext cx="2072580" cy="1171575"/>
          </a:xfrm>
          <a:prstGeom prst="roundRect">
            <a:avLst>
              <a:gd name="adj" fmla="val 65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580" y="3241327"/>
            <a:ext cx="2072580" cy="1171575"/>
          </a:xfrm>
          <a:prstGeom prst="roundRect">
            <a:avLst>
              <a:gd name="adj" fmla="val 65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560" y="3241327"/>
            <a:ext cx="2072580" cy="1171575"/>
          </a:xfrm>
          <a:prstGeom prst="roundRect">
            <a:avLst>
              <a:gd name="adj" fmla="val 65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541" y="3241327"/>
            <a:ext cx="2072580" cy="1171575"/>
          </a:xfrm>
          <a:prstGeom prst="roundRect">
            <a:avLst>
              <a:gd name="adj" fmla="val 65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521" y="3241327"/>
            <a:ext cx="2072580" cy="1171575"/>
          </a:xfrm>
          <a:prstGeom prst="roundRect">
            <a:avLst>
              <a:gd name="adj" fmla="val 65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SYSTEM DESIGN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Modular Project Architecture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100" y="3431827"/>
            <a:ext cx="22201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1. Ingestion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0100" y="3708052"/>
            <a:ext cx="17868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data_loader.py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Safe raw data reading</a:t>
            </a:r>
            <a:endParaRPr sz="105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25080" y="3431827"/>
            <a:ext cx="22201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2. Validation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25080" y="3708052"/>
            <a:ext cx="17868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validator.py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Schema &amp; missing checks</a:t>
            </a:r>
            <a:endParaRPr sz="105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0060" y="3431827"/>
            <a:ext cx="22201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3. Features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50060" y="3708052"/>
            <a:ext cx="17868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preprocessing.py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ID isolation &amp; mapping</a:t>
            </a:r>
            <a:endParaRPr sz="105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75041" y="3431827"/>
            <a:ext cx="22201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4. Training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75041" y="3708052"/>
            <a:ext cx="178683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model.py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ColumnTransformer assembly</a:t>
            </a:r>
            <a:endParaRPr sz="105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00021" y="3431827"/>
            <a:ext cx="22201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5. Outputs</a:t>
            </a:r>
            <a:endParaRPr sz="12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00021" y="3708052"/>
            <a:ext cx="178683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evaluation.py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Metrics &amp; prediction export</a:t>
            </a:r>
            <a:endParaRPr sz="1050" b="0" i="0" u="none">
              <a:solidFill>
                <a:srgbClr val="334155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45990"/>
            <a:ext cx="10972800" cy="81915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17540"/>
            <a:ext cx="10972800" cy="81915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89090"/>
            <a:ext cx="10972800" cy="81915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445990"/>
            <a:ext cx="3810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17540"/>
            <a:ext cx="3810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389090"/>
            <a:ext cx="38100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ENGINEERING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Data Cleaning &amp; Transformation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263649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TotalCharges Processing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200" y="2893665"/>
            <a:ext cx="11353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Converted blank whitespace strings for brand-new customers into 0.0 float values.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360804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Identifier Isolation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3865215"/>
            <a:ext cx="11353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Dropped customerID from features to prevent memorization leakage while keeping it for predictions mapping.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457959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Target Binary Encoding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4836765"/>
            <a:ext cx="11353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Mapped categorical target string values ('Yes'/'No') directly into binary integers (1/0).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8390"/>
            <a:ext cx="5372100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98390"/>
            <a:ext cx="5372100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41415"/>
            <a:ext cx="5372100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41415"/>
            <a:ext cx="5372100" cy="1114425"/>
          </a:xfrm>
          <a:prstGeom prst="roundRect">
            <a:avLst>
              <a:gd name="adj" fmla="val 68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865090"/>
            <a:ext cx="1333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286509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08115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4208115"/>
            <a:ext cx="1905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EXPLORATORY DATA ANALYSIS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Primary Churn Drivers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2826990"/>
            <a:ext cx="6450806" cy="2190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Contract Terms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3122265"/>
            <a:ext cx="5010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Month-to-month subscribers exhibit significantly higher churn than long-term contract users.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38900" y="2826990"/>
            <a:ext cx="5753100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Customer Tenure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8900" y="3122265"/>
            <a:ext cx="57531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Newer subscribers (0–12 months) drop off at the highest frequency.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00" y="4170015"/>
            <a:ext cx="6450806" cy="2190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Internet Service Type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200" y="4465290"/>
            <a:ext cx="5010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Fiber Optic customers churn more than DSL users, driven by price sensitivity.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38900" y="4170015"/>
            <a:ext cx="5753100" cy="2190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Payment Methods</a:t>
            </a:r>
            <a:endParaRPr sz="13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8900" y="4465290"/>
            <a:ext cx="5010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Electronic Check payments show higher churn rates compared to automated billing.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9377"/>
            <a:ext cx="5157787" cy="1895475"/>
          </a:xfrm>
          <a:prstGeom prst="roundRect">
            <a:avLst>
              <a:gd name="adj" fmla="val 60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24612" y="3107977"/>
            <a:ext cx="5157787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5987" y="3722340"/>
            <a:ext cx="20002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MACHINE LEARNING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Scikit-Learn Pipeline Assembly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3925" y="3193702"/>
            <a:ext cx="594449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Preprocessing Stack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38937" y="3422302"/>
            <a:ext cx="545306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Classifier Layer</a:t>
            </a:r>
            <a:endParaRPr sz="150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8937" y="3774727"/>
            <a:ext cx="46243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Plus Jakarta Sans"/>
              </a:rPr>
              <a:t>Logistic Regression: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Provides efficient binary classification and probability scoring without data leakage.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3546127"/>
            <a:ext cx="46243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StandardScaler: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Normalizes numeric features (tenure, charges).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925" y="4060477"/>
            <a:ext cx="46243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OneHotEncoder: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Encodes categorical attributes with handle_unknown='ignore'.</a:t>
            </a:r>
            <a:endParaRPr sz="1200" b="0" i="0" u="none">
              <a:solidFill>
                <a:srgbClr val="334155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3043237"/>
          <a:ext cx="5176837" cy="2295525"/>
        </p:xfrm>
        <a:graphic>
          <a:graphicData uri="http://schemas.openxmlformats.org/drawingml/2006/table">
            <a:tbl>
              <a:tblPr/>
              <a:tblGrid>
                <a:gridCol w="1876425"/>
                <a:gridCol w="1650057"/>
                <a:gridCol w="1650355"/>
              </a:tblGrid>
              <a:tr h="765175">
                <a:tc>
                  <a:txBody>
                    <a:bodyPr/>
                    <a:lstStyle/>
                    <a:p>
                      <a:pPr algn="ctr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Pred 0</a:t>
                      </a:r>
                      <a:endParaRPr sz="1500" b="1" i="0" u="none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Pred 1</a:t>
                      </a:r>
                      <a:endParaRPr sz="1500" b="1" i="0" u="none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5175"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Actual 0</a:t>
                      </a:r>
                      <a:endParaRPr sz="1500" b="1" i="0" u="none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50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927</a:t>
                      </a:r>
                      <a:endParaRPr lang="en-MY" sz="1500" b="0" i="0" u="none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50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108</a:t>
                      </a:r>
                      <a:endParaRPr lang="en-MY" sz="1500" b="0" i="0" u="none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65175"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0F172A"/>
                          </a:solidFill>
                          <a:latin typeface="JetBrains Mono"/>
                        </a:rPr>
                        <a:t>Actual 1</a:t>
                      </a:r>
                      <a:endParaRPr sz="1500" b="1" i="0" u="none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50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164</a:t>
                      </a:r>
                      <a:endParaRPr lang="en-MY" sz="1500" b="0" i="0" u="none">
                        <a:solidFill>
                          <a:srgbClr val="0F172A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500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210</a:t>
                      </a:r>
                      <a:endParaRPr lang="en-MY" sz="1500" b="1" i="0" u="none">
                        <a:solidFill>
                          <a:srgbClr val="2563E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2595562"/>
            <a:ext cx="6477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JetBrains Mono"/>
              </a:rPr>
              <a:t>Confusion Matrix (Test Set)</a:t>
            </a:r>
            <a:endParaRPr sz="1350" b="0" i="0" u="none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2747962"/>
            <a:ext cx="1696085" cy="615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Inter"/>
              </a:rPr>
              <a:t>[</a:t>
            </a:r>
            <a:r>
              <a:rPr lang="en-MY" sz="4800" b="1" i="0" u="none">
                <a:solidFill>
                  <a:srgbClr val="0F172A"/>
                </a:solidFill>
                <a:latin typeface="Inter"/>
              </a:rPr>
              <a:t>0.81</a:t>
            </a:r>
            <a:r>
              <a:rPr sz="4800" b="1" i="0" u="none">
                <a:solidFill>
                  <a:srgbClr val="0F172A"/>
                </a:solidFill>
                <a:latin typeface="Inter"/>
              </a:rPr>
              <a:t>]</a:t>
            </a:r>
            <a:endParaRPr sz="4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3433762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Accuracy</a:t>
            </a:r>
            <a:endParaRPr sz="150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0" y="2747962"/>
            <a:ext cx="1830705" cy="615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Inter"/>
              </a:rPr>
              <a:t>[</a:t>
            </a:r>
            <a:r>
              <a:rPr lang="en-MY" sz="4800" b="1" i="0" u="none">
                <a:solidFill>
                  <a:srgbClr val="0F172A"/>
                </a:solidFill>
                <a:latin typeface="Inter"/>
              </a:rPr>
              <a:t>0.66</a:t>
            </a:r>
            <a:r>
              <a:rPr sz="4800" b="1" i="0" u="none">
                <a:solidFill>
                  <a:srgbClr val="0F172A"/>
                </a:solidFill>
                <a:latin typeface="Inter"/>
              </a:rPr>
              <a:t>]</a:t>
            </a:r>
            <a:endParaRPr sz="4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0" y="3433762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Precision</a:t>
            </a:r>
            <a:endParaRPr sz="150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4271962"/>
            <a:ext cx="1815465" cy="615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Inter"/>
              </a:rPr>
              <a:t>[</a:t>
            </a:r>
            <a:r>
              <a:rPr lang="en-MY" sz="4800" b="1" i="0" u="none">
                <a:solidFill>
                  <a:srgbClr val="0F172A"/>
                </a:solidFill>
                <a:latin typeface="Inter"/>
              </a:rPr>
              <a:t>0.56</a:t>
            </a:r>
            <a:r>
              <a:rPr sz="4800" b="1" i="0" u="none">
                <a:solidFill>
                  <a:srgbClr val="0F172A"/>
                </a:solidFill>
                <a:latin typeface="Inter"/>
              </a:rPr>
              <a:t>]</a:t>
            </a:r>
            <a:endParaRPr sz="4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4957762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Recall</a:t>
            </a:r>
            <a:endParaRPr sz="150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71962"/>
            <a:ext cx="1696085" cy="6153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2563EB"/>
                </a:solidFill>
                <a:latin typeface="Inter"/>
              </a:rPr>
              <a:t>[</a:t>
            </a:r>
            <a:r>
              <a:rPr lang="en-MY" sz="4800" b="1" i="0" u="none">
                <a:solidFill>
                  <a:srgbClr val="2563EB"/>
                </a:solidFill>
                <a:latin typeface="Inter"/>
              </a:rPr>
              <a:t>0.61</a:t>
            </a:r>
            <a:r>
              <a:rPr sz="4800" b="1" i="0" u="none">
                <a:solidFill>
                  <a:srgbClr val="2563EB"/>
                </a:solidFill>
                <a:latin typeface="Inter"/>
              </a:rPr>
              <a:t>]</a:t>
            </a:r>
            <a:endParaRPr sz="480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0" y="4957762"/>
            <a:ext cx="304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F1 Score</a:t>
            </a:r>
            <a:endParaRPr sz="150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MODEL PERFORMANCE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Evaluation Results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1382"/>
            <a:ext cx="5334000" cy="1731466"/>
          </a:xfrm>
          <a:prstGeom prst="roundRect">
            <a:avLst>
              <a:gd name="adj" fmla="val 660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61382"/>
            <a:ext cx="5334000" cy="1731466"/>
          </a:xfrm>
          <a:prstGeom prst="roundRect">
            <a:avLst>
              <a:gd name="adj" fmla="val 660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04282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304282"/>
            <a:ext cx="1809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QUALITY ASSURANCE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Unit Testing &amp; CI/CD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266182"/>
            <a:ext cx="6200775" cy="2381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Pytest Coverage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656707"/>
            <a:ext cx="48196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6 automated local unit tests covering column validation, non-negative charge safeguards, duplicate ID detection, and output schema formatting.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3266182"/>
            <a:ext cx="5638800" cy="2381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 GitHub Actions CI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53200" y="3656707"/>
            <a:ext cx="48196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Automated workflow runner executing test suite on every git push to ensure code health and prevent regression bugs.</a:t>
            </a:r>
            <a:endParaRPr sz="1200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798415"/>
          <a:ext cx="10972799" cy="2057400"/>
        </p:xfrm>
        <a:graphic>
          <a:graphicData uri="http://schemas.openxmlformats.org/drawingml/2006/table">
            <a:tbl>
              <a:tblPr/>
              <a:tblGrid>
                <a:gridCol w="2341066"/>
                <a:gridCol w="2450455"/>
                <a:gridCol w="3035647"/>
                <a:gridCol w="3145631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customerID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actual_churn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predicted_churn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churn_probability</a:t>
                      </a:r>
                      <a:endParaRPr sz="1200" b="1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7590-VHVEG</a:t>
                      </a:r>
                      <a:endParaRPr sz="1200" b="0" i="0" u="none">
                        <a:solidFill>
                          <a:srgbClr val="0F172A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0.1245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5575-GNVDE</a:t>
                      </a:r>
                      <a:endParaRPr sz="1200" b="0" i="0" u="none">
                        <a:solidFill>
                          <a:srgbClr val="0F172A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0.3812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monospace"/>
                        </a:rPr>
                        <a:t>3668-QPYBK</a:t>
                      </a:r>
                      <a:endParaRPr sz="1200" b="0" i="0" u="none">
                        <a:solidFill>
                          <a:srgbClr val="0F172A"/>
                        </a:solidFill>
                        <a:latin typeface="monospace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0.7420</a:t>
                      </a:r>
                      <a:endParaRPr sz="1200" b="0" i="0" u="none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OUTPUTS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Predictions CSV Export Schema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0827"/>
            <a:ext cx="53340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50827"/>
            <a:ext cx="5334000" cy="1552575"/>
          </a:xfrm>
          <a:prstGeom prst="roundRect">
            <a:avLst>
              <a:gd name="adj" fmla="val 73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PROJECT REFLECTION</a:t>
            </a:r>
            <a:endParaRPr sz="10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Limitations &amp; Future Roadmap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6300" y="3317527"/>
            <a:ext cx="63007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Plus Jakarta Sans"/>
              </a:rPr>
              <a:t>Current Limitations</a:t>
            </a:r>
            <a:endParaRPr sz="1350" b="1" i="0" u="none">
              <a:solidFill>
                <a:srgbClr val="DC2626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5100" y="3317527"/>
            <a:ext cx="56769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Future Enhancements</a:t>
            </a:r>
            <a:endParaRPr sz="1350" b="1" i="0" u="none">
              <a:solidFill>
                <a:srgbClr val="2563EB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0600" y="3650902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800" y="3650902"/>
            <a:ext cx="5762625" cy="22860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Single baseline algorithm tested (Logistic Regression).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3650902"/>
            <a:ext cx="762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05600" y="3650902"/>
            <a:ext cx="4093845" cy="230505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Evaluate tree-based algorithms (</a:t>
            </a:r>
            <a:r>
              <a:rPr lang="en-US" altLang="en-US" sz="1125" b="0" i="0" u="none">
                <a:solidFill>
                  <a:srgbClr val="475569"/>
                </a:solidFill>
                <a:latin typeface="Plus Jakarta Sans"/>
              </a:rPr>
              <a:t>DecisionTreeClassifier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).</a:t>
            </a:r>
            <a:endParaRPr sz="1125" b="0" i="0" u="none">
              <a:solidFill>
                <a:srgbClr val="475569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08314" y="2943225"/>
            <a:ext cx="297537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Thank You</a:t>
            </a:r>
            <a:endParaRPr sz="36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80359" y="3676650"/>
            <a:ext cx="26312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Questions &amp; Discussion</a:t>
            </a:r>
            <a:endParaRPr sz="1500" b="0" i="0" u="none">
              <a:solidFill>
                <a:srgbClr val="94A3B8"/>
              </a:solidFill>
              <a:latin typeface="Plus Jakarta Sans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502" y="4067175"/>
            <a:ext cx="21907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60115" y="4067175"/>
            <a:ext cx="5271135" cy="2305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altLang="en-US" sz="1500" b="0" i="0" u="none">
                <a:solidFill>
                  <a:srgbClr val="CBD5E1"/>
                </a:solidFill>
                <a:latin typeface="JetBrains Mono"/>
              </a:rPr>
              <a:t>https://github.com/Fird370/UST_Capstone_Project.git</a:t>
            </a:r>
            <a:endParaRPr lang="en-US" altLang="en-US" sz="1500" b="0" i="0" u="none">
              <a:solidFill>
                <a:srgbClr val="CBD5E1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2885</Words>
  <Application>WPS Presentation</Application>
  <PresentationFormat>On-screen Show (4:3)</PresentationFormat>
  <Paragraphs>220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Plus Jakarta Sans</vt:lpstr>
      <vt:lpstr>Segoe Print</vt:lpstr>
      <vt:lpstr>monospace</vt:lpstr>
      <vt:lpstr>Calibri</vt:lpstr>
      <vt:lpstr>Microsoft YaHei</vt:lpstr>
      <vt:lpstr>Arial Unicode MS</vt:lpstr>
      <vt:lpstr>Inter</vt:lpstr>
      <vt:lpstr>Inter 18pt</vt:lpstr>
      <vt:lpstr>JetBrains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fird1</cp:lastModifiedBy>
  <cp:revision>2</cp:revision>
  <dcterms:created xsi:type="dcterms:W3CDTF">2013-01-27T09:14:00Z</dcterms:created>
  <dcterms:modified xsi:type="dcterms:W3CDTF">2026-10-17T20:03:59Z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8B92043626AE449897447EBDE493E1AF_12</vt:lpwstr>
  </property>
</Properties>
</file>